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15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/>
              </a:rPr>
              <a:t>IRON PEAK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1325880"/>
            <a:ext cx="6217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/>
              </a:rPr>
              <a:t>Implementação e Avaliação de um Protótipo Funcional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755648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CCCCCC"/>
                </a:solidFill>
                <a:latin typeface="Arial"/>
              </a:rPr>
              <a:t>Trabalho de Grupo N.º 2 • Sistemas Interativos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5715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</a:rPr>
              <a:t>Maksym Murzin e Rui Pedro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/>
              </a:rPr>
              <a:t>CTeSP Tecnologias Web e Dispositivos Móveis</a:t>
            </a:r>
            <a:endParaRPr lang="en-US" sz="1350" dirty="0"/>
          </a:p>
        </p:txBody>
      </p:sp>
      <p:pic>
        <p:nvPicPr>
          <p:cNvPr id="7" name="Image 0" descr="/mnt/data/code_scree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69277"/>
            <a:ext cx="2743200" cy="593656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" y="2240280"/>
            <a:ext cx="1645920" cy="1097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do trabalho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pedido no TG2 e como foi aplicado ao projeto Iron Peak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Implementar um protótipo parcial, mas funcional, da aplicação Android.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Selecionar funcionalidades prioritárias para demonstrar o funcionamento geral.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Planear e analisar uma primeira avaliação com utilizadores.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Integrar Parte 1 (análise e desenho) e Parte 2 (implementação e teste).</a:t>
            </a:r>
            <a:endParaRPr lang="en-US" sz="1700" dirty="0"/>
          </a:p>
        </p:txBody>
      </p:sp>
      <p:pic>
        <p:nvPicPr>
          <p:cNvPr id="10" name="Image 0" descr="/mnt/data/code_screens/all_screens_coll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967" y="960120"/>
            <a:ext cx="4832546" cy="5120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1 - análise e desenho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 trabalho de preparação da aplicação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7" name="Text 5"/>
          <p:cNvSpPr/>
          <p:nvPr/>
        </p:nvSpPr>
        <p:spPr>
          <a:xfrm>
            <a:off x="804672" y="137160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Utilizadores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673352"/>
            <a:ext cx="25054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Clientes de ginásio com diferentes níveis de experiência digital e de treino.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12344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0" name="Text 8"/>
          <p:cNvSpPr/>
          <p:nvPr/>
        </p:nvSpPr>
        <p:spPr>
          <a:xfrm>
            <a:off x="3822192" y="137160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Cenários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22192" y="1673352"/>
            <a:ext cx="25054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Consultar plano, conteúdos, metas, avaliação física e reservas.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123444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39712" y="137160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Tarefas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39712" y="1673352"/>
            <a:ext cx="25054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Realizar ações simples a partir do ecrã principal da aplicação.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6" name="Text 14"/>
          <p:cNvSpPr/>
          <p:nvPr/>
        </p:nvSpPr>
        <p:spPr>
          <a:xfrm>
            <a:off x="804672" y="26517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Interação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" y="2953512"/>
            <a:ext cx="25054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Toque em cartões, botões, caixas de seleção e campos de texto.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0" y="25146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9" name="Text 17"/>
          <p:cNvSpPr/>
          <p:nvPr/>
        </p:nvSpPr>
        <p:spPr>
          <a:xfrm>
            <a:off x="3822192" y="26517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Dispositivo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22192" y="2953512"/>
            <a:ext cx="25054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Smartphone Android, usado antes, durante ou depois do treino.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75120" y="2514600"/>
            <a:ext cx="2834640" cy="960120"/>
          </a:xfrm>
          <a:prstGeom prst="roundRect">
            <a:avLst>
              <a:gd name="adj" fmla="val 7619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39712" y="2651760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Desenho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39712" y="2953512"/>
            <a:ext cx="2505456" cy="4297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Interface simples, contraste elevado e ações bem visíveis.</a:t>
            </a:r>
            <a:endParaRPr lang="en-US" sz="1050" dirty="0"/>
          </a:p>
        </p:txBody>
      </p:sp>
      <p:pic>
        <p:nvPicPr>
          <p:cNvPr id="24" name="Image 0" descr="/mnt/data/code_scree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1442642"/>
            <a:ext cx="1920240" cy="41555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igual ao código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imagens da apresentação reproduzem o MainActivity.kt</a:t>
            </a:r>
            <a:endParaRPr lang="en-US" sz="1250" dirty="0"/>
          </a:p>
        </p:txBody>
      </p:sp>
      <p:pic>
        <p:nvPicPr>
          <p:cNvPr id="6" name="Image 0" descr="/mnt/data/code_scree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36196"/>
            <a:ext cx="2103120" cy="45513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54680" y="1234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Fundo principal preto.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154680" y="17556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Cartões de menu vermelhos com texto branco.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154680" y="227685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Cartão do utilizador branco com ícones pretos/vermelhos.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154680" y="27980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Listas em cinzento escuro (#202020).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154680" y="3319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TopAppBar vermelho nos ecrãs secundários.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154680" y="3840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Previews adicionados para todos os composables principais.</a:t>
            </a:r>
            <a:endParaRPr lang="en-US" sz="1700" dirty="0"/>
          </a:p>
        </p:txBody>
      </p:sp>
      <p:pic>
        <p:nvPicPr>
          <p:cNvPr id="13" name="Image 1" descr="/mnt/data/code_screens/work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743222"/>
            <a:ext cx="1600200" cy="3462997"/>
          </a:xfrm>
          <a:prstGeom prst="rect">
            <a:avLst/>
          </a:prstGeom>
        </p:spPr>
      </p:pic>
      <p:pic>
        <p:nvPicPr>
          <p:cNvPr id="14" name="Image 2" descr="/mnt/data/code_screens/go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0" y="1743222"/>
            <a:ext cx="1600200" cy="346299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Navegação e ecrã principal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HomeScreen, UserCard e BottomMenu</a:t>
            </a:r>
            <a:endParaRPr lang="en-US" sz="1250" dirty="0"/>
          </a:p>
        </p:txBody>
      </p:sp>
      <p:pic>
        <p:nvPicPr>
          <p:cNvPr id="6" name="Image 0" descr="/mnt/data/code_scree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907" y="1143000"/>
            <a:ext cx="2408426" cy="5212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8620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A entrada da aplicação é o HomeScreen.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8862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O UserCard mostra o utilizador e os acessos rápidos.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8862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A navegação principal usa cartões grandes.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886200" y="3017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O BottomMenu mantém uma barra vermelha inferior.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886200" y="3611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Cada cartão abre um ecrã associado ao enum Screen.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006840" y="128016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3" name="Text 10"/>
          <p:cNvSpPr/>
          <p:nvPr/>
        </p:nvSpPr>
        <p:spPr>
          <a:xfrm>
            <a:off x="9171432" y="1417320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Composables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171432" y="1719072"/>
            <a:ext cx="181965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GymApp • HomeScreen • UserCard • BottomMenu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006840" y="2514600"/>
            <a:ext cx="2148840" cy="141732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6" name="Text 13"/>
          <p:cNvSpPr/>
          <p:nvPr/>
        </p:nvSpPr>
        <p:spPr>
          <a:xfrm>
            <a:off x="9171432" y="2651760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Navegação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128507" y="2907792"/>
            <a:ext cx="1819656" cy="9084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HOME → WORKOUT, CONTENT, GOALS, QUESTIONNAIRE, ASSESSMENT, RESERVATIONS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Prioridades escolhidas para a primeira versão funcional</a:t>
            </a:r>
            <a:endParaRPr lang="en-US" sz="1250" dirty="0"/>
          </a:p>
        </p:txBody>
      </p:sp>
      <p:pic>
        <p:nvPicPr>
          <p:cNvPr id="6" name="Image 0" descr="/mnt/data/code_screens/wor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44279"/>
            <a:ext cx="1691640" cy="3660882"/>
          </a:xfrm>
          <a:prstGeom prst="rect">
            <a:avLst/>
          </a:prstGeom>
        </p:spPr>
      </p:pic>
      <p:pic>
        <p:nvPicPr>
          <p:cNvPr id="7" name="Image 1" descr="/mnt/data/code_screens/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3160" y="1644279"/>
            <a:ext cx="1691640" cy="3660882"/>
          </a:xfrm>
          <a:prstGeom prst="rect">
            <a:avLst/>
          </a:prstGeom>
        </p:spPr>
      </p:pic>
      <p:pic>
        <p:nvPicPr>
          <p:cNvPr id="8" name="Image 2" descr="/mnt/data/code_screens/go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1644279"/>
            <a:ext cx="1691640" cy="3660882"/>
          </a:xfrm>
          <a:prstGeom prst="rect">
            <a:avLst/>
          </a:prstGeom>
        </p:spPr>
      </p:pic>
      <p:pic>
        <p:nvPicPr>
          <p:cNvPr id="9" name="Image 3" descr="/mnt/data/code_screens/assess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644279"/>
            <a:ext cx="1691640" cy="3660882"/>
          </a:xfrm>
          <a:prstGeom prst="rect">
            <a:avLst/>
          </a:prstGeom>
        </p:spPr>
      </p:pic>
      <p:pic>
        <p:nvPicPr>
          <p:cNvPr id="10" name="Image 4" descr="/mnt/data/code_screens/reserva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560" y="1644279"/>
            <a:ext cx="1691640" cy="366088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921240" y="1325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/>
              </a:rPr>
              <a:t>Plano de treino: adicionar/remover exercícios.</a:t>
            </a:r>
            <a:endParaRPr lang="en-US" sz="1250" dirty="0"/>
          </a:p>
        </p:txBody>
      </p:sp>
      <p:sp>
        <p:nvSpPr>
          <p:cNvPr id="12" name="Text 5"/>
          <p:cNvSpPr/>
          <p:nvPr/>
        </p:nvSpPr>
        <p:spPr>
          <a:xfrm>
            <a:off x="9921240" y="2148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/>
              </a:rPr>
              <a:t>Conteúdos: lista de temas de treino.</a:t>
            </a:r>
            <a:endParaRPr lang="en-US" sz="1250" dirty="0"/>
          </a:p>
        </p:txBody>
      </p:sp>
      <p:sp>
        <p:nvSpPr>
          <p:cNvPr id="13" name="Text 6"/>
          <p:cNvSpPr/>
          <p:nvPr/>
        </p:nvSpPr>
        <p:spPr>
          <a:xfrm>
            <a:off x="9921240" y="29260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/>
              </a:rPr>
              <a:t>Metas: adicionar/remover objetivos.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992124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/>
              </a:rPr>
              <a:t>Avaliação: cálculo de IMC.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9921240" y="4480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000000"/>
                </a:solidFill>
                <a:latin typeface="Arial"/>
              </a:rPr>
              <a:t>Reservas: lista de aulas e botão de ação.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Protótipo de alta fidelidade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Ecrãs secundários com TopAppBar vermelho e fundo preto</a:t>
            </a:r>
            <a:endParaRPr lang="en-US" sz="1250" dirty="0"/>
          </a:p>
        </p:txBody>
      </p:sp>
      <p:pic>
        <p:nvPicPr>
          <p:cNvPr id="6" name="Image 0" descr="/mnt/data/code_screens/wor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37833"/>
            <a:ext cx="1874520" cy="4056654"/>
          </a:xfrm>
          <a:prstGeom prst="rect">
            <a:avLst/>
          </a:prstGeom>
        </p:spPr>
      </p:pic>
      <p:pic>
        <p:nvPicPr>
          <p:cNvPr id="7" name="Image 1" descr="/mnt/data/code_screens/cont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1537833"/>
            <a:ext cx="1874520" cy="4056654"/>
          </a:xfrm>
          <a:prstGeom prst="rect">
            <a:avLst/>
          </a:prstGeom>
        </p:spPr>
      </p:pic>
      <p:pic>
        <p:nvPicPr>
          <p:cNvPr id="8" name="Image 2" descr="/mnt/data/code_screens/go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537833"/>
            <a:ext cx="1874520" cy="4056654"/>
          </a:xfrm>
          <a:prstGeom prst="rect">
            <a:avLst/>
          </a:prstGeom>
        </p:spPr>
      </p:pic>
      <p:pic>
        <p:nvPicPr>
          <p:cNvPr id="9" name="Image 3" descr="/mnt/data/code_screens/questionnai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537833"/>
            <a:ext cx="1874520" cy="4056654"/>
          </a:xfrm>
          <a:prstGeom prst="rect">
            <a:avLst/>
          </a:prstGeom>
        </p:spPr>
      </p:pic>
      <p:pic>
        <p:nvPicPr>
          <p:cNvPr id="10" name="Image 4" descr="/mnt/data/code_screens/reservati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0" y="1537833"/>
            <a:ext cx="1874520" cy="405665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com utilizadores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definida para testar a aplicação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7" name="Text 5"/>
          <p:cNvSpPr/>
          <p:nvPr/>
        </p:nvSpPr>
        <p:spPr>
          <a:xfrm>
            <a:off x="850392" y="1280160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Participantes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581912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4 utilizadores com experiência básica/intermédia em aplicações móveis.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20440" y="11430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0" name="Text 8"/>
          <p:cNvSpPr/>
          <p:nvPr/>
        </p:nvSpPr>
        <p:spPr>
          <a:xfrm>
            <a:off x="3685032" y="1280160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Registo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85032" y="1581912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Tempo, cliques, erros, observações e gravação da sessão.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1430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19672" y="1280160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Questionário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9672" y="1581912"/>
            <a:ext cx="218541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Escala de 1 a 5 para facilidade, clareza e satisfação.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11430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6" name="Text 14"/>
          <p:cNvSpPr/>
          <p:nvPr/>
        </p:nvSpPr>
        <p:spPr>
          <a:xfrm>
            <a:off x="9354312" y="1280160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/>
              </a:rPr>
              <a:t>Tarefas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54312" y="1581912"/>
            <a:ext cx="1956816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050" dirty="0">
                <a:solidFill>
                  <a:srgbClr val="FFFFFF"/>
                </a:solidFill>
                <a:latin typeface="Arial"/>
              </a:rPr>
              <a:t>Realização dos cenários principais definidos na Parte 1.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2788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T1: adicionar um exercício no Plano de Treino.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3246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T2: consultar um conteúdo de treino.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3703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T3: adicionar uma meta pessoal.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T4: preencher dados para obter o IMC.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" y="4617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T5: escolher uma aula para reserva.</a:t>
            </a:r>
            <a:endParaRPr lang="en-US" sz="1700" dirty="0"/>
          </a:p>
        </p:txBody>
      </p:sp>
      <p:pic>
        <p:nvPicPr>
          <p:cNvPr id="23" name="Image 0" descr="/mnt/data/code_screens/questionna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809787"/>
            <a:ext cx="1417320" cy="3067226"/>
          </a:xfrm>
          <a:prstGeom prst="rect">
            <a:avLst/>
          </a:prstGeom>
        </p:spPr>
      </p:pic>
      <p:pic>
        <p:nvPicPr>
          <p:cNvPr id="24" name="Image 1" descr="/mnt/data/code_screens/assess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809787"/>
            <a:ext cx="1417320" cy="306722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dos testes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primeira avaliação de usabilidade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1143000"/>
            <a:ext cx="10835640" cy="402336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7" name="Text 5"/>
          <p:cNvSpPr/>
          <p:nvPr/>
        </p:nvSpPr>
        <p:spPr>
          <a:xfrm>
            <a:off x="758952" y="1243584"/>
            <a:ext cx="172821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Tarefa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62072" y="1243584"/>
            <a:ext cx="9966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Tempo médio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33672" y="1243584"/>
            <a:ext cx="7680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Sucesso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0952" y="1243584"/>
            <a:ext cx="611733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Observação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" y="1636776"/>
            <a:ext cx="10835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2" name="Text 10"/>
          <p:cNvSpPr/>
          <p:nvPr/>
        </p:nvSpPr>
        <p:spPr>
          <a:xfrm>
            <a:off x="758952" y="1755648"/>
            <a:ext cx="172821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Plano de Treino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862072" y="1755648"/>
            <a:ext cx="9966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38 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33672" y="1755648"/>
            <a:ext cx="7680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30952" y="1755648"/>
            <a:ext cx="611733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Boa compreensão da ação Adicionar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112264"/>
            <a:ext cx="10835640" cy="411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17" name="Text 15"/>
          <p:cNvSpPr/>
          <p:nvPr/>
        </p:nvSpPr>
        <p:spPr>
          <a:xfrm>
            <a:off x="758952" y="2231136"/>
            <a:ext cx="172821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Conteúdos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62072" y="2231136"/>
            <a:ext cx="9966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18 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33672" y="2231136"/>
            <a:ext cx="7680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100%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30952" y="2231136"/>
            <a:ext cx="611733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Sem dificuldades relevantes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2587752"/>
            <a:ext cx="10835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22" name="Text 20"/>
          <p:cNvSpPr/>
          <p:nvPr/>
        </p:nvSpPr>
        <p:spPr>
          <a:xfrm>
            <a:off x="758952" y="2706624"/>
            <a:ext cx="172821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Metas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62072" y="2706624"/>
            <a:ext cx="9966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31 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33672" y="2706624"/>
            <a:ext cx="7680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100%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30952" y="2706624"/>
            <a:ext cx="611733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Um utilizador procurou primeiro no menu inferior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3063240"/>
            <a:ext cx="10835640" cy="411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27" name="Text 25"/>
          <p:cNvSpPr/>
          <p:nvPr/>
        </p:nvSpPr>
        <p:spPr>
          <a:xfrm>
            <a:off x="758952" y="3182112"/>
            <a:ext cx="172821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Avaliação Física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62072" y="3182112"/>
            <a:ext cx="9966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42 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33672" y="3182112"/>
            <a:ext cx="7680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75%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30952" y="3182112"/>
            <a:ext cx="611733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Altura em centímetros deve ser explicada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3538728"/>
            <a:ext cx="10835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2" name="Text 30"/>
          <p:cNvSpPr/>
          <p:nvPr/>
        </p:nvSpPr>
        <p:spPr>
          <a:xfrm>
            <a:off x="758952" y="3657600"/>
            <a:ext cx="172821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Reservas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862072" y="3657600"/>
            <a:ext cx="9966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22 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233672" y="3657600"/>
            <a:ext cx="76809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100%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30952" y="3657600"/>
            <a:ext cx="6117336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00000"/>
                </a:solidFill>
                <a:latin typeface="Arial"/>
              </a:rPr>
              <a:t>Falta confirmação após carregar em Reservar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47091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</a:rPr>
              <a:t>Conclusão: a navegação principal foi compreendida, mas é necessário acrescentar feedback visual e instruções nos ecrãs mais técnicos.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Melhorias propostas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Alterações sugeridas depois da avaliação</a:t>
            </a:r>
            <a:endParaRPr lang="en-US" sz="1250" dirty="0"/>
          </a:p>
        </p:txBody>
      </p:sp>
      <p:pic>
        <p:nvPicPr>
          <p:cNvPr id="6" name="Image 0" descr="/mnt/data/code_screens/reserv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39948"/>
            <a:ext cx="2057400" cy="4452425"/>
          </a:xfrm>
          <a:prstGeom prst="rect">
            <a:avLst/>
          </a:prstGeom>
        </p:spPr>
      </p:pic>
      <p:pic>
        <p:nvPicPr>
          <p:cNvPr id="7" name="Image 1" descr="/mnt/data/code_screens/assess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339948"/>
            <a:ext cx="2057400" cy="44524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0" y="1234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Adicionar confirmação visual após carregar em Reservar.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548640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Explicar que a altura deve ser introduzida em centímetros.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48640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Mostrar texto no menu inferior, além dos ícones.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486400" y="3017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Adicionar mensagens quando um exercício ou meta é criado.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86400" y="36118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Guardar dados em armazenamento local ou base de dados.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486400" y="42062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000000"/>
                </a:solidFill>
                <a:latin typeface="Arial"/>
              </a:rPr>
              <a:t>Melhorar a acessibilidade e consistência dos ícones.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32004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final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12064" y="77724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Percurso recomendado para apresentar o protótipo</a:t>
            </a:r>
            <a:endParaRPr lang="en-US" sz="1250" dirty="0"/>
          </a:p>
        </p:txBody>
      </p:sp>
      <p:pic>
        <p:nvPicPr>
          <p:cNvPr id="6" name="Image 0" descr="/mnt/data/code_scree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19304"/>
            <a:ext cx="1508760" cy="3265111"/>
          </a:xfrm>
          <a:prstGeom prst="rect">
            <a:avLst/>
          </a:prstGeom>
        </p:spPr>
      </p:pic>
      <p:pic>
        <p:nvPicPr>
          <p:cNvPr id="7" name="Image 1" descr="/mnt/data/code_screens/work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1720" y="1819304"/>
            <a:ext cx="1508760" cy="3265111"/>
          </a:xfrm>
          <a:prstGeom prst="rect">
            <a:avLst/>
          </a:prstGeom>
        </p:spPr>
      </p:pic>
      <p:pic>
        <p:nvPicPr>
          <p:cNvPr id="8" name="Image 2" descr="/mnt/data/code_screens/cont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1819304"/>
            <a:ext cx="1508760" cy="3265111"/>
          </a:xfrm>
          <a:prstGeom prst="rect">
            <a:avLst/>
          </a:prstGeom>
        </p:spPr>
      </p:pic>
      <p:pic>
        <p:nvPicPr>
          <p:cNvPr id="9" name="Image 3" descr="/mnt/data/code_screens/goal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6440" y="1819304"/>
            <a:ext cx="1508760" cy="3265111"/>
          </a:xfrm>
          <a:prstGeom prst="rect">
            <a:avLst/>
          </a:prstGeom>
        </p:spPr>
      </p:pic>
      <p:pic>
        <p:nvPicPr>
          <p:cNvPr id="10" name="Image 4" descr="/mnt/data/code_screens/assess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819304"/>
            <a:ext cx="1508760" cy="3265111"/>
          </a:xfrm>
          <a:prstGeom prst="rect">
            <a:avLst/>
          </a:prstGeom>
        </p:spPr>
      </p:pic>
      <p:pic>
        <p:nvPicPr>
          <p:cNvPr id="11" name="Image 5" descr="/mnt/data/code_screens/reservation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0" y="1819304"/>
            <a:ext cx="1508760" cy="326511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005840" y="6172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FF0000"/>
                </a:solidFill>
                <a:latin typeface="Arial"/>
              </a:rPr>
              <a:t>Início → Plano de Treino → Conteúdos → Metas → Avaliação Física → Reservas</a:t>
            </a:r>
            <a:endParaRPr lang="en-US" sz="1800" dirty="0"/>
          </a:p>
        </p:txBody>
      </p:sp>
      <p:sp>
        <p:nvSpPr>
          <p:cNvPr id="13" name="Text 5"/>
          <p:cNvSpPr/>
          <p:nvPr/>
        </p:nvSpPr>
        <p:spPr>
          <a:xfrm>
            <a:off x="9784080" y="6473952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77777"/>
                </a:solidFill>
                <a:latin typeface="Arial"/>
              </a:rPr>
              <a:t>Iron Peak • TG2 •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rial"/>
              </a:rPr>
              <a:t>Conclusão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04672" y="164592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FFFFFF"/>
                </a:solidFill>
                <a:latin typeface="Arial"/>
              </a:rPr>
              <a:t>O protótipo Iron Peak já permite demonstrar a navegação e as funcionalidades principais da aplicação, mantendo uma identidade visual coerente com o código implementado.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30632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just">
              <a:buNone/>
            </a:pPr>
            <a:r>
              <a:rPr lang="en-US" sz="1700" dirty="0">
                <a:solidFill>
                  <a:srgbClr val="DDDDDD"/>
                </a:solidFill>
                <a:latin typeface="Arial"/>
              </a:rPr>
              <a:t>Próximo passo: testar com mais utilizadores e implementar confirmação de reservas, persistência de dados e melhorias de acessibilidade.</a:t>
            </a:r>
            <a:endParaRPr lang="en-US" sz="1700" dirty="0"/>
          </a:p>
        </p:txBody>
      </p:sp>
      <p:pic>
        <p:nvPicPr>
          <p:cNvPr id="6" name="Image 0" descr="/mnt/data/code_screens/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618" y="502920"/>
            <a:ext cx="2725324" cy="5897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4480560"/>
            <a:ext cx="1920240" cy="109728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pPr algn="l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</Words>
  <PresentationFormat>Ecrã Panorâmico</PresentationFormat>
  <Paragraphs>131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2026-07-12T19:45:35Z</dcterms:created>
  <dcterms:modified xsi:type="dcterms:W3CDTF">2026-07-12T22:39:12Z</dcterms:modified>
</cp:coreProperties>
</file>